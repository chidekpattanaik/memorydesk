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F5C9278-E8E1-FB01-71BD-22EC40A765A6}">
          <p14:sldIdLst>
            <p14:sldId id="256"/>
          </p14:sldIdLst>
        </p14:section>
        <p14:section name="Problem" id="{A2142C19-40DE-1C51-4758-41AA297FE724}">
          <p14:sldIdLst>
            <p14:sldId id="257"/>
          </p14:sldIdLst>
        </p14:section>
        <p14:section name="Solution" id="{C790BEB1-6A61-BFAC-F2C9-CA0A111A94EF}">
          <p14:sldIdLst>
            <p14:sldId id="258"/>
          </p14:sldIdLst>
        </p14:section>
        <p14:section name="Prototype" id="{6F7AA8D8-B751-CA45-02A5-79D5816D3A9B}">
          <p14:sldIdLst>
            <p14:sldId id="259"/>
          </p14:sldIdLst>
        </p14:section>
        <p14:section name="Impact" id="{1EB7EC21-21CF-23B9-411B-B8A3DD65338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24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slots (right): replace each dashed box with a real screenshot.
1 REPORT: user describes an incident in natural language.
2 REMEMBER + REASON: incident match, similarity, failed action, successful action, AI recommendation.
3 ACT + VERIFY: human approval, simulated execution, before/after metrics, verification, new memory.
Stack: Next.js, FastAPI, Groq LLM, LangGraph, PostgreSQL, Hindsight. Controlled simulated environment for safe remediation and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D_TITLE_SLIDE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5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D_CONTENT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1352" y="274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/ 5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713232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b="1" kern="0" spc="4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274320"/>
            <a:ext cx="128016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8E8B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274320"/>
            <a:ext cx="128016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8E8B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94932"/>
            <a:ext cx="5120640" cy="140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chemeClr val="tx1"/>
                </a:solidFill>
              </a:rPr>
              <a:t>MemoryDesk</a:t>
            </a:r>
            <a:br>
              <a:rPr lang="en-US" sz="5400" b="1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A</a:t>
            </a:r>
            <a:r>
              <a:rPr lang="en-GB" sz="1600" dirty="0"/>
              <a:t>n AI incident-response assistant that learns from past failures and successful fixes to help teams resolve new incidents faster.</a:t>
            </a:r>
            <a:br>
              <a:rPr lang="en-GB" sz="2000" dirty="0"/>
            </a:br>
            <a:endParaRPr lang="en-US" sz="5400" dirty="0"/>
          </a:p>
        </p:txBody>
      </p:sp>
      <p:sp>
        <p:nvSpPr>
          <p:cNvPr id="3" name="Ring 1"/>
          <p:cNvSpPr/>
          <p:nvPr/>
        </p:nvSpPr>
        <p:spPr>
          <a:xfrm>
            <a:off x="5897880" y="1188720"/>
            <a:ext cx="2743200" cy="2743200"/>
          </a:xfrm>
          <a:prstGeom prst="ellipse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4" name="Ring 2"/>
          <p:cNvSpPr/>
          <p:nvPr/>
        </p:nvSpPr>
        <p:spPr>
          <a:xfrm>
            <a:off x="6336792" y="1627632"/>
            <a:ext cx="1865376" cy="1865376"/>
          </a:xfrm>
          <a:prstGeom prst="ellipse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Ring 3"/>
          <p:cNvSpPr/>
          <p:nvPr/>
        </p:nvSpPr>
        <p:spPr>
          <a:xfrm>
            <a:off x="6766560" y="2057400"/>
            <a:ext cx="1005840" cy="1005840"/>
          </a:xfrm>
          <a:prstGeom prst="ellipse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Connector 4"/>
          <p:cNvSpPr/>
          <p:nvPr/>
        </p:nvSpPr>
        <p:spPr>
          <a:xfrm flipV="1">
            <a:off x="7269480" y="1349269"/>
            <a:ext cx="643927" cy="1211051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7" name="Connector 5"/>
          <p:cNvSpPr/>
          <p:nvPr/>
        </p:nvSpPr>
        <p:spPr>
          <a:xfrm>
            <a:off x="7269480" y="2560320"/>
            <a:ext cx="1211051" cy="643927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8" name="Connector 6"/>
          <p:cNvSpPr/>
          <p:nvPr/>
        </p:nvSpPr>
        <p:spPr>
          <a:xfrm flipH="1">
            <a:off x="6081640" y="2560320"/>
            <a:ext cx="1187840" cy="6858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9" name="Connector 7"/>
          <p:cNvSpPr/>
          <p:nvPr/>
        </p:nvSpPr>
        <p:spPr>
          <a:xfrm flipH="1">
            <a:off x="7188191" y="2560320"/>
            <a:ext cx="81289" cy="929139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0" name="Connector 8"/>
          <p:cNvSpPr/>
          <p:nvPr/>
        </p:nvSpPr>
        <p:spPr>
          <a:xfrm flipH="1" flipV="1">
            <a:off x="6505467" y="2025352"/>
            <a:ext cx="764013" cy="53496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1" name="Connector 9"/>
          <p:cNvSpPr/>
          <p:nvPr/>
        </p:nvSpPr>
        <p:spPr>
          <a:xfrm flipV="1">
            <a:off x="7269480" y="2241322"/>
            <a:ext cx="876440" cy="31899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2" name="Connector 10"/>
          <p:cNvSpPr/>
          <p:nvPr/>
        </p:nvSpPr>
        <p:spPr>
          <a:xfrm flipV="1">
            <a:off x="7269480" y="2124779"/>
            <a:ext cx="251460" cy="435541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3" name="Connector 11"/>
          <p:cNvSpPr/>
          <p:nvPr/>
        </p:nvSpPr>
        <p:spPr>
          <a:xfrm flipH="1">
            <a:off x="6796890" y="2560320"/>
            <a:ext cx="472590" cy="172009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4" name="Memory dot 12"/>
          <p:cNvSpPr/>
          <p:nvPr/>
        </p:nvSpPr>
        <p:spPr>
          <a:xfrm>
            <a:off x="7812823" y="1248685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Memory dot 13"/>
          <p:cNvSpPr/>
          <p:nvPr/>
        </p:nvSpPr>
        <p:spPr>
          <a:xfrm>
            <a:off x="8411951" y="3135667"/>
            <a:ext cx="137160" cy="13716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Memory dot 14"/>
          <p:cNvSpPr/>
          <p:nvPr/>
        </p:nvSpPr>
        <p:spPr>
          <a:xfrm>
            <a:off x="6013060" y="3177540"/>
            <a:ext cx="137160" cy="13716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Memory dot 15"/>
          <p:cNvSpPr/>
          <p:nvPr/>
        </p:nvSpPr>
        <p:spPr>
          <a:xfrm>
            <a:off x="7087607" y="3388875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Memory dot 16"/>
          <p:cNvSpPr/>
          <p:nvPr/>
        </p:nvSpPr>
        <p:spPr>
          <a:xfrm>
            <a:off x="6436887" y="1956772"/>
            <a:ext cx="137160" cy="13716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9" name="Memory dot 17"/>
          <p:cNvSpPr/>
          <p:nvPr/>
        </p:nvSpPr>
        <p:spPr>
          <a:xfrm>
            <a:off x="8077340" y="2172742"/>
            <a:ext cx="137160" cy="13716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Memory dot 18"/>
          <p:cNvSpPr/>
          <p:nvPr/>
        </p:nvSpPr>
        <p:spPr>
          <a:xfrm>
            <a:off x="7420356" y="2024195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Memory dot 19"/>
          <p:cNvSpPr/>
          <p:nvPr/>
        </p:nvSpPr>
        <p:spPr>
          <a:xfrm>
            <a:off x="6728310" y="2663749"/>
            <a:ext cx="137160" cy="13716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2" name="Core 20"/>
          <p:cNvSpPr/>
          <p:nvPr/>
        </p:nvSpPr>
        <p:spPr>
          <a:xfrm>
            <a:off x="7114032" y="2404872"/>
            <a:ext cx="310896" cy="31089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2829B2-410E-8EC5-E16F-275E7613441F}"/>
              </a:ext>
            </a:extLst>
          </p:cNvPr>
          <p:cNvSpPr txBox="1"/>
          <p:nvPr/>
        </p:nvSpPr>
        <p:spPr>
          <a:xfrm>
            <a:off x="474133" y="4429760"/>
            <a:ext cx="3823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Minds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chemeClr val="accent1"/>
                </a:solidFill>
              </a:rPr>
              <a:t>PROBLEM UNDERSTANDING &amp; ALIGNMENT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The missing piece isn't more incident data. It's usable organizational experience.</a:t>
            </a:r>
            <a:endParaRPr lang="en-US" sz="2200" dirty="0"/>
          </a:p>
        </p:txBody>
      </p:sp>
      <p:sp>
        <p:nvSpPr>
          <p:cNvPr id="4" name="Label 21"/>
          <p:cNvSpPr txBox="1"/>
          <p:nvPr/>
        </p:nvSpPr>
        <p:spPr>
          <a:xfrm>
            <a:off x="457200" y="1325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THE INCIDENT LOOP TODAY</a:t>
            </a:r>
            <a:endParaRPr lang="en-US" sz="900" dirty="0"/>
          </a:p>
        </p:txBody>
      </p:sp>
      <p:sp>
        <p:nvSpPr>
          <p:cNvPr id="5" name="Loop step 22"/>
          <p:cNvSpPr/>
          <p:nvPr/>
        </p:nvSpPr>
        <p:spPr>
          <a:xfrm>
            <a:off x="457200" y="1627632"/>
            <a:ext cx="173736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Incident</a:t>
            </a:r>
            <a:endParaRPr lang="en-US" sz="1000" dirty="0"/>
          </a:p>
        </p:txBody>
      </p:sp>
      <p:sp>
        <p:nvSpPr>
          <p:cNvPr id="6" name="Connector 23"/>
          <p:cNvSpPr/>
          <p:nvPr/>
        </p:nvSpPr>
        <p:spPr>
          <a:xfrm>
            <a:off x="2194560" y="1856232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Loop step 24"/>
          <p:cNvSpPr/>
          <p:nvPr/>
        </p:nvSpPr>
        <p:spPr>
          <a:xfrm>
            <a:off x="2606040" y="1627632"/>
            <a:ext cx="173736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Investigation</a:t>
            </a:r>
            <a:endParaRPr lang="en-US" sz="1000" dirty="0"/>
          </a:p>
        </p:txBody>
      </p:sp>
      <p:sp>
        <p:nvSpPr>
          <p:cNvPr id="8" name="Connector 25"/>
          <p:cNvSpPr/>
          <p:nvPr/>
        </p:nvSpPr>
        <p:spPr>
          <a:xfrm>
            <a:off x="4343400" y="1856232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Loop step 26"/>
          <p:cNvSpPr/>
          <p:nvPr/>
        </p:nvSpPr>
        <p:spPr>
          <a:xfrm>
            <a:off x="4754880" y="1627632"/>
            <a:ext cx="173736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Trial &amp; Error</a:t>
            </a:r>
            <a:endParaRPr lang="en-US" sz="1000" dirty="0"/>
          </a:p>
        </p:txBody>
      </p:sp>
      <p:sp>
        <p:nvSpPr>
          <p:cNvPr id="10" name="Connector 27"/>
          <p:cNvSpPr/>
          <p:nvPr/>
        </p:nvSpPr>
        <p:spPr>
          <a:xfrm>
            <a:off x="6492240" y="1856232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Loop step 28"/>
          <p:cNvSpPr/>
          <p:nvPr/>
        </p:nvSpPr>
        <p:spPr>
          <a:xfrm>
            <a:off x="6903720" y="1627632"/>
            <a:ext cx="173736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12" name="Connector 29"/>
          <p:cNvSpPr/>
          <p:nvPr/>
        </p:nvSpPr>
        <p:spPr>
          <a:xfrm>
            <a:off x="7772400" y="2084832"/>
            <a:ext cx="0" cy="310896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13" name="Connector 30"/>
          <p:cNvSpPr/>
          <p:nvPr/>
        </p:nvSpPr>
        <p:spPr>
          <a:xfrm flipH="1">
            <a:off x="1325880" y="2395728"/>
            <a:ext cx="64465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14" name="Connector 31"/>
          <p:cNvSpPr/>
          <p:nvPr/>
        </p:nvSpPr>
        <p:spPr>
          <a:xfrm flipV="1">
            <a:off x="1325880" y="2084832"/>
            <a:ext cx="0" cy="310896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triangle"/>
          </a:ln>
        </p:spPr>
      </p:sp>
      <p:sp>
        <p:nvSpPr>
          <p:cNvPr id="15" name="Loop caption 32"/>
          <p:cNvSpPr txBox="1"/>
          <p:nvPr/>
        </p:nvSpPr>
        <p:spPr>
          <a:xfrm>
            <a:off x="3337560" y="2286000"/>
            <a:ext cx="242316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tx2"/>
                </a:solidFill>
              </a:rPr>
              <a:t>↻  same issue, same effort, every time</a:t>
            </a:r>
            <a:endParaRPr lang="en-US" sz="1000" dirty="0"/>
          </a:p>
        </p:txBody>
      </p:sp>
      <p:sp>
        <p:nvSpPr>
          <p:cNvPr id="16" name="Pain card 33"/>
          <p:cNvSpPr/>
          <p:nvPr/>
        </p:nvSpPr>
        <p:spPr>
          <a:xfrm>
            <a:off x="457200" y="2834640"/>
            <a:ext cx="2606040" cy="1645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Label 34"/>
          <p:cNvSpPr txBox="1"/>
          <p:nvPr/>
        </p:nvSpPr>
        <p:spPr>
          <a:xfrm>
            <a:off x="64008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400" dirty="0"/>
          </a:p>
        </p:txBody>
      </p:sp>
      <p:sp>
        <p:nvSpPr>
          <p:cNvPr id="18" name="Label 35"/>
          <p:cNvSpPr txBox="1"/>
          <p:nvPr/>
        </p:nvSpPr>
        <p:spPr>
          <a:xfrm>
            <a:off x="64008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Investigate from scratch</a:t>
            </a:r>
            <a:endParaRPr lang="en-US" sz="1400" dirty="0"/>
          </a:p>
        </p:txBody>
      </p:sp>
      <p:sp>
        <p:nvSpPr>
          <p:cNvPr id="19" name="Label 36"/>
          <p:cNvSpPr txBox="1"/>
          <p:nvPr/>
        </p:nvSpPr>
        <p:spPr>
          <a:xfrm>
            <a:off x="640080" y="3767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Engineers start every incident from zero, even when it has happened before.</a:t>
            </a:r>
            <a:endParaRPr lang="en-US" sz="1100" dirty="0"/>
          </a:p>
        </p:txBody>
      </p:sp>
      <p:sp>
        <p:nvSpPr>
          <p:cNvPr id="20" name="Pain card 37"/>
          <p:cNvSpPr/>
          <p:nvPr/>
        </p:nvSpPr>
        <p:spPr>
          <a:xfrm>
            <a:off x="3268980" y="2834640"/>
            <a:ext cx="2606040" cy="1645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Label 38"/>
          <p:cNvSpPr txBox="1"/>
          <p:nvPr/>
        </p:nvSpPr>
        <p:spPr>
          <a:xfrm>
            <a:off x="345186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400" dirty="0"/>
          </a:p>
        </p:txBody>
      </p:sp>
      <p:sp>
        <p:nvSpPr>
          <p:cNvPr id="22" name="Label 39"/>
          <p:cNvSpPr txBox="1"/>
          <p:nvPr/>
        </p:nvSpPr>
        <p:spPr>
          <a:xfrm>
            <a:off x="345186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Failures get repeated</a:t>
            </a:r>
            <a:endParaRPr lang="en-US" sz="1400" dirty="0"/>
          </a:p>
        </p:txBody>
      </p:sp>
      <p:sp>
        <p:nvSpPr>
          <p:cNvPr id="23" name="Label 40"/>
          <p:cNvSpPr txBox="1"/>
          <p:nvPr/>
        </p:nvSpPr>
        <p:spPr>
          <a:xfrm>
            <a:off x="3451860" y="3767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Actions that already failed can be tried again, because nobody recorded them.</a:t>
            </a:r>
            <a:endParaRPr lang="en-US" sz="1100" dirty="0"/>
          </a:p>
        </p:txBody>
      </p:sp>
      <p:sp>
        <p:nvSpPr>
          <p:cNvPr id="24" name="Pain card 41"/>
          <p:cNvSpPr/>
          <p:nvPr/>
        </p:nvSpPr>
        <p:spPr>
          <a:xfrm>
            <a:off x="6080760" y="2834640"/>
            <a:ext cx="2606040" cy="1645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5" name="Label 42"/>
          <p:cNvSpPr txBox="1"/>
          <p:nvPr/>
        </p:nvSpPr>
        <p:spPr>
          <a:xfrm>
            <a:off x="626364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Label 43"/>
          <p:cNvSpPr txBox="1"/>
          <p:nvPr/>
        </p:nvSpPr>
        <p:spPr>
          <a:xfrm>
            <a:off x="626364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Experience stays buried</a:t>
            </a:r>
            <a:endParaRPr lang="en-US" sz="1400" dirty="0"/>
          </a:p>
        </p:txBody>
      </p:sp>
      <p:sp>
        <p:nvSpPr>
          <p:cNvPr id="27" name="Label 44"/>
          <p:cNvSpPr txBox="1"/>
          <p:nvPr/>
        </p:nvSpPr>
        <p:spPr>
          <a:xfrm>
            <a:off x="6263640" y="3767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Valuable lessons sit in past incidents that are hard to find and reuse.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274320"/>
            <a:ext cx="128016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8E8B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chemeClr val="accent1"/>
                </a:solidFill>
              </a:rPr>
              <a:t>PROPOSED SOLUTION &amp; INNOVATION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MemoryDesk — An AI teammate that remembers what worked.</a:t>
            </a:r>
            <a:endParaRPr lang="en-US" sz="2200" dirty="0"/>
          </a:p>
        </p:txBody>
      </p:sp>
      <p:sp>
        <p:nvSpPr>
          <p:cNvPr id="4" name="Label 45"/>
          <p:cNvSpPr txBox="1"/>
          <p:nvPr/>
        </p:nvSpPr>
        <p:spPr>
          <a:xfrm>
            <a:off x="457200" y="1325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FLOWCHART  ·  HOW MEMORYDESK HANDLES AN INCIDENT</a:t>
            </a:r>
            <a:endParaRPr lang="en-US" sz="900" dirty="0"/>
          </a:p>
        </p:txBody>
      </p:sp>
      <p:sp>
        <p:nvSpPr>
          <p:cNvPr id="5" name="Step 46"/>
          <p:cNvSpPr/>
          <p:nvPr/>
        </p:nvSpPr>
        <p:spPr>
          <a:xfrm>
            <a:off x="457200" y="1837944"/>
            <a:ext cx="1417320" cy="53035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New incident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AI understands</a:t>
            </a:r>
            <a:endParaRPr lang="en-US" sz="1000" dirty="0"/>
          </a:p>
        </p:txBody>
      </p:sp>
      <p:sp>
        <p:nvSpPr>
          <p:cNvPr id="6" name="Decision 47"/>
          <p:cNvSpPr/>
          <p:nvPr/>
        </p:nvSpPr>
        <p:spPr>
          <a:xfrm>
            <a:off x="2160270" y="1682496"/>
            <a:ext cx="1417320" cy="841248"/>
          </a:xfrm>
          <a:prstGeom prst="diamond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Similar past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incident?</a:t>
            </a:r>
            <a:endParaRPr lang="en-US" sz="1000" dirty="0"/>
          </a:p>
        </p:txBody>
      </p:sp>
      <p:sp>
        <p:nvSpPr>
          <p:cNvPr id="7" name="Step 48"/>
          <p:cNvSpPr/>
          <p:nvPr/>
        </p:nvSpPr>
        <p:spPr>
          <a:xfrm>
            <a:off x="3863340" y="1837944"/>
            <a:ext cx="1417320" cy="53035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Recall failed ✕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successful ✓ actions</a:t>
            </a:r>
            <a:endParaRPr lang="en-US" sz="1000" dirty="0"/>
          </a:p>
        </p:txBody>
      </p:sp>
      <p:sp>
        <p:nvSpPr>
          <p:cNvPr id="8" name="Step 49"/>
          <p:cNvSpPr/>
          <p:nvPr/>
        </p:nvSpPr>
        <p:spPr>
          <a:xfrm>
            <a:off x="5566410" y="1837944"/>
            <a:ext cx="1417320" cy="53035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Recommend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action</a:t>
            </a:r>
            <a:endParaRPr lang="en-US" sz="1000" dirty="0"/>
          </a:p>
        </p:txBody>
      </p:sp>
      <p:sp>
        <p:nvSpPr>
          <p:cNvPr id="9" name="Decision 50"/>
          <p:cNvSpPr/>
          <p:nvPr/>
        </p:nvSpPr>
        <p:spPr>
          <a:xfrm>
            <a:off x="7269480" y="1682496"/>
            <a:ext cx="1417320" cy="841248"/>
          </a:xfrm>
          <a:prstGeom prst="diamond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Human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approves?</a:t>
            </a:r>
            <a:endParaRPr lang="en-US" sz="1000" dirty="0"/>
          </a:p>
        </p:txBody>
      </p:sp>
      <p:sp>
        <p:nvSpPr>
          <p:cNvPr id="10" name="Connector 51"/>
          <p:cNvSpPr/>
          <p:nvPr/>
        </p:nvSpPr>
        <p:spPr>
          <a:xfrm>
            <a:off x="1874520" y="2103120"/>
            <a:ext cx="28575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Connector 52"/>
          <p:cNvSpPr/>
          <p:nvPr/>
        </p:nvSpPr>
        <p:spPr>
          <a:xfrm>
            <a:off x="3577590" y="2103120"/>
            <a:ext cx="28575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Label 53"/>
          <p:cNvSpPr txBox="1"/>
          <p:nvPr/>
        </p:nvSpPr>
        <p:spPr>
          <a:xfrm>
            <a:off x="3586734" y="18562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3"/>
                </a:solidFill>
              </a:rPr>
              <a:t>Yes</a:t>
            </a:r>
            <a:endParaRPr lang="en-US" sz="900" dirty="0"/>
          </a:p>
        </p:txBody>
      </p:sp>
      <p:sp>
        <p:nvSpPr>
          <p:cNvPr id="13" name="Connector 54"/>
          <p:cNvSpPr/>
          <p:nvPr/>
        </p:nvSpPr>
        <p:spPr>
          <a:xfrm>
            <a:off x="5280660" y="2103120"/>
            <a:ext cx="28575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Connector 55"/>
          <p:cNvSpPr/>
          <p:nvPr/>
        </p:nvSpPr>
        <p:spPr>
          <a:xfrm>
            <a:off x="6983730" y="2103120"/>
            <a:ext cx="28575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Connector 56"/>
          <p:cNvSpPr/>
          <p:nvPr/>
        </p:nvSpPr>
        <p:spPr>
          <a:xfrm>
            <a:off x="2868930" y="2523744"/>
            <a:ext cx="0" cy="237744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16" name="Connector 57"/>
          <p:cNvSpPr/>
          <p:nvPr/>
        </p:nvSpPr>
        <p:spPr>
          <a:xfrm>
            <a:off x="2868930" y="2761488"/>
            <a:ext cx="340614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17" name="Connector 58"/>
          <p:cNvSpPr/>
          <p:nvPr/>
        </p:nvSpPr>
        <p:spPr>
          <a:xfrm flipV="1">
            <a:off x="6275070" y="2368296"/>
            <a:ext cx="0" cy="393192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triangle"/>
          </a:ln>
        </p:spPr>
      </p:sp>
      <p:sp>
        <p:nvSpPr>
          <p:cNvPr id="18" name="Label 59"/>
          <p:cNvSpPr txBox="1"/>
          <p:nvPr/>
        </p:nvSpPr>
        <p:spPr>
          <a:xfrm>
            <a:off x="3006090" y="2560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chemeClr val="tx2"/>
                </a:solidFill>
              </a:rPr>
              <a:t>No  →  fresh AI reasoning (no memory yet)</a:t>
            </a:r>
            <a:endParaRPr lang="en-US" sz="900" dirty="0"/>
          </a:p>
        </p:txBody>
      </p:sp>
      <p:sp>
        <p:nvSpPr>
          <p:cNvPr id="19" name="Connector 60"/>
          <p:cNvSpPr/>
          <p:nvPr/>
        </p:nvSpPr>
        <p:spPr>
          <a:xfrm flipV="1">
            <a:off x="7978140" y="1536192"/>
            <a:ext cx="0" cy="146304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20" name="Connector 61"/>
          <p:cNvSpPr/>
          <p:nvPr/>
        </p:nvSpPr>
        <p:spPr>
          <a:xfrm flipH="1">
            <a:off x="6275070" y="1536192"/>
            <a:ext cx="170307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21" name="Connector 62"/>
          <p:cNvSpPr/>
          <p:nvPr/>
        </p:nvSpPr>
        <p:spPr>
          <a:xfrm>
            <a:off x="6275070" y="1536192"/>
            <a:ext cx="0" cy="301752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triangle"/>
          </a:ln>
        </p:spPr>
      </p:sp>
      <p:sp>
        <p:nvSpPr>
          <p:cNvPr id="22" name="Label 63"/>
          <p:cNvSpPr txBox="1"/>
          <p:nvPr/>
        </p:nvSpPr>
        <p:spPr>
          <a:xfrm>
            <a:off x="6412230" y="13350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chemeClr val="tx2"/>
                </a:solidFill>
              </a:rPr>
              <a:t>No  →  revise</a:t>
            </a:r>
            <a:endParaRPr lang="en-US" sz="900" dirty="0"/>
          </a:p>
        </p:txBody>
      </p:sp>
      <p:sp>
        <p:nvSpPr>
          <p:cNvPr id="23" name="Connector 64"/>
          <p:cNvSpPr/>
          <p:nvPr/>
        </p:nvSpPr>
        <p:spPr>
          <a:xfrm>
            <a:off x="7978140" y="2523744"/>
            <a:ext cx="0" cy="7315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Label 65"/>
          <p:cNvSpPr txBox="1"/>
          <p:nvPr/>
        </p:nvSpPr>
        <p:spPr>
          <a:xfrm>
            <a:off x="8051292" y="27889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3"/>
                </a:solidFill>
              </a:rPr>
              <a:t>Yes</a:t>
            </a:r>
            <a:endParaRPr lang="en-US" sz="900" dirty="0"/>
          </a:p>
        </p:txBody>
      </p:sp>
      <p:sp>
        <p:nvSpPr>
          <p:cNvPr id="25" name="Step 66"/>
          <p:cNvSpPr/>
          <p:nvPr/>
        </p:nvSpPr>
        <p:spPr>
          <a:xfrm>
            <a:off x="7269480" y="3255264"/>
            <a:ext cx="1417320" cy="53035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Execute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(simulated)</a:t>
            </a:r>
            <a:endParaRPr lang="en-US" sz="1000" dirty="0"/>
          </a:p>
        </p:txBody>
      </p:sp>
      <p:sp>
        <p:nvSpPr>
          <p:cNvPr id="26" name="Step 67"/>
          <p:cNvSpPr/>
          <p:nvPr/>
        </p:nvSpPr>
        <p:spPr>
          <a:xfrm>
            <a:off x="5566410" y="3255264"/>
            <a:ext cx="1417320" cy="53035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Verify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before / after</a:t>
            </a:r>
            <a:endParaRPr lang="en-US" sz="1000" dirty="0"/>
          </a:p>
        </p:txBody>
      </p:sp>
      <p:sp>
        <p:nvSpPr>
          <p:cNvPr id="27" name="Decision 68"/>
          <p:cNvSpPr/>
          <p:nvPr/>
        </p:nvSpPr>
        <p:spPr>
          <a:xfrm>
            <a:off x="3863340" y="3099816"/>
            <a:ext cx="1417320" cy="841248"/>
          </a:xfrm>
          <a:prstGeom prst="diamond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Issue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resolved?</a:t>
            </a:r>
            <a:endParaRPr lang="en-US" sz="1000" dirty="0"/>
          </a:p>
        </p:txBody>
      </p:sp>
      <p:sp>
        <p:nvSpPr>
          <p:cNvPr id="28" name="Step 69"/>
          <p:cNvSpPr/>
          <p:nvPr/>
        </p:nvSpPr>
        <p:spPr>
          <a:xfrm>
            <a:off x="2160270" y="3255264"/>
            <a:ext cx="1417320" cy="53035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Store successful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action ✓</a:t>
            </a:r>
            <a:endParaRPr lang="en-US" sz="1000" dirty="0"/>
          </a:p>
        </p:txBody>
      </p:sp>
      <p:sp>
        <p:nvSpPr>
          <p:cNvPr id="29" name="Outcome 70"/>
          <p:cNvSpPr/>
          <p:nvPr/>
        </p:nvSpPr>
        <p:spPr>
          <a:xfrm>
            <a:off x="457200" y="3255264"/>
            <a:ext cx="1417320" cy="53035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Memory updated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next incident smarter</a:t>
            </a:r>
            <a:endParaRPr lang="en-US" sz="1000" dirty="0"/>
          </a:p>
        </p:txBody>
      </p:sp>
      <p:sp>
        <p:nvSpPr>
          <p:cNvPr id="30" name="Connector 71"/>
          <p:cNvSpPr/>
          <p:nvPr/>
        </p:nvSpPr>
        <p:spPr>
          <a:xfrm flipH="1">
            <a:off x="6983730" y="3520440"/>
            <a:ext cx="28575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Connector 72"/>
          <p:cNvSpPr/>
          <p:nvPr/>
        </p:nvSpPr>
        <p:spPr>
          <a:xfrm flipH="1">
            <a:off x="5280660" y="3520440"/>
            <a:ext cx="28575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Connector 73"/>
          <p:cNvSpPr/>
          <p:nvPr/>
        </p:nvSpPr>
        <p:spPr>
          <a:xfrm flipH="1">
            <a:off x="3577590" y="3520440"/>
            <a:ext cx="28575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Label 74"/>
          <p:cNvSpPr txBox="1"/>
          <p:nvPr/>
        </p:nvSpPr>
        <p:spPr>
          <a:xfrm>
            <a:off x="3586734" y="32735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3"/>
                </a:solidFill>
              </a:rPr>
              <a:t>Yes</a:t>
            </a:r>
            <a:endParaRPr lang="en-US" sz="900" dirty="0"/>
          </a:p>
        </p:txBody>
      </p:sp>
      <p:sp>
        <p:nvSpPr>
          <p:cNvPr id="34" name="Connector 75"/>
          <p:cNvSpPr/>
          <p:nvPr/>
        </p:nvSpPr>
        <p:spPr>
          <a:xfrm flipH="1">
            <a:off x="1874520" y="3520440"/>
            <a:ext cx="28575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Connector 76"/>
          <p:cNvSpPr/>
          <p:nvPr/>
        </p:nvSpPr>
        <p:spPr>
          <a:xfrm>
            <a:off x="4572000" y="3941064"/>
            <a:ext cx="0" cy="219456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triangle"/>
          </a:ln>
        </p:spPr>
      </p:sp>
      <p:sp>
        <p:nvSpPr>
          <p:cNvPr id="36" name="Label 77"/>
          <p:cNvSpPr txBox="1"/>
          <p:nvPr/>
        </p:nvSpPr>
        <p:spPr>
          <a:xfrm>
            <a:off x="4645152" y="39684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3"/>
                </a:solidFill>
              </a:rPr>
              <a:t>No</a:t>
            </a:r>
            <a:endParaRPr lang="en-US" sz="900" dirty="0"/>
          </a:p>
        </p:txBody>
      </p:sp>
      <p:sp>
        <p:nvSpPr>
          <p:cNvPr id="37" name="Step 78"/>
          <p:cNvSpPr/>
          <p:nvPr/>
        </p:nvSpPr>
        <p:spPr>
          <a:xfrm>
            <a:off x="3863340" y="4160520"/>
            <a:ext cx="1417320" cy="320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Store failed action ✕</a:t>
            </a:r>
            <a:endParaRPr lang="en-US" sz="1000" dirty="0"/>
          </a:p>
        </p:txBody>
      </p:sp>
      <p:sp>
        <p:nvSpPr>
          <p:cNvPr id="38" name="Connector 79"/>
          <p:cNvSpPr/>
          <p:nvPr/>
        </p:nvSpPr>
        <p:spPr>
          <a:xfrm flipH="1">
            <a:off x="1165860" y="4320540"/>
            <a:ext cx="269748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39" name="Connector 80"/>
          <p:cNvSpPr/>
          <p:nvPr/>
        </p:nvSpPr>
        <p:spPr>
          <a:xfrm flipV="1">
            <a:off x="1165860" y="3785616"/>
            <a:ext cx="0" cy="534924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triangle"/>
          </a:ln>
        </p:spPr>
      </p:sp>
      <p:sp>
        <p:nvSpPr>
          <p:cNvPr id="40" name="Punchline 81"/>
          <p:cNvSpPr txBox="1"/>
          <p:nvPr/>
        </p:nvSpPr>
        <p:spPr>
          <a:xfrm>
            <a:off x="5566410" y="40416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Traditional systems remember incidents.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MemoryDesk remembers the lessons inside them.</a:t>
            </a:r>
            <a:endParaRPr lang="en-US" sz="11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274320"/>
            <a:ext cx="128016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8E8B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chemeClr val="accent1"/>
                </a:solidFill>
              </a:rPr>
              <a:t>WORKING PROTOTYPE &amp; TECHNICAL IMPLEMENTATION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Built and running: report, remember, act, verify.</a:t>
            </a:r>
            <a:endParaRPr lang="en-US" sz="2200" dirty="0"/>
          </a:p>
        </p:txBody>
      </p:sp>
      <p:sp>
        <p:nvSpPr>
          <p:cNvPr id="4" name="Caption 82"/>
          <p:cNvSpPr txBox="1"/>
          <p:nvPr/>
        </p:nvSpPr>
        <p:spPr>
          <a:xfrm>
            <a:off x="457200" y="129844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SYSTEM ARCHITECTURE</a:t>
            </a:r>
            <a:r>
              <a:rPr lang="en-US" sz="900" i="1" dirty="0">
                <a:solidFill>
                  <a:schemeClr val="accent3"/>
                </a:solidFill>
              </a:rPr>
              <a:t>     solid = built   ·   dashed = future scope</a:t>
            </a:r>
            <a:endParaRPr lang="en-US" sz="900" dirty="0"/>
          </a:p>
        </p:txBody>
      </p:sp>
      <p:sp>
        <p:nvSpPr>
          <p:cNvPr id="5" name="Layer 83"/>
          <p:cNvSpPr/>
          <p:nvPr/>
        </p:nvSpPr>
        <p:spPr>
          <a:xfrm>
            <a:off x="457200" y="1536192"/>
            <a:ext cx="557784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Next.js UI</a:t>
            </a:r>
            <a:r>
              <a:rPr lang="en-US" sz="1000" b="1" dirty="0">
                <a:solidFill>
                  <a:schemeClr val="tx2"/>
                </a:solidFill>
              </a:rPr>
              <a:t>    incident report · approval · metrics</a:t>
            </a:r>
            <a:endParaRPr lang="en-US" sz="1000" dirty="0"/>
          </a:p>
        </p:txBody>
      </p:sp>
      <p:sp>
        <p:nvSpPr>
          <p:cNvPr id="6" name="Connector 84"/>
          <p:cNvSpPr/>
          <p:nvPr/>
        </p:nvSpPr>
        <p:spPr>
          <a:xfrm>
            <a:off x="3246120" y="1901952"/>
            <a:ext cx="0" cy="21945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7" name="Layer 85"/>
          <p:cNvSpPr/>
          <p:nvPr/>
        </p:nvSpPr>
        <p:spPr>
          <a:xfrm>
            <a:off x="457200" y="2121408"/>
            <a:ext cx="557784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FastAPI</a:t>
            </a:r>
            <a:r>
              <a:rPr lang="en-US" sz="1000" b="1" dirty="0">
                <a:solidFill>
                  <a:schemeClr val="tx2"/>
                </a:solidFill>
              </a:rPr>
              <a:t>    backend API layer</a:t>
            </a:r>
            <a:endParaRPr lang="en-US" sz="1000" dirty="0"/>
          </a:p>
        </p:txBody>
      </p:sp>
      <p:sp>
        <p:nvSpPr>
          <p:cNvPr id="8" name="Connector 86"/>
          <p:cNvSpPr/>
          <p:nvPr/>
        </p:nvSpPr>
        <p:spPr>
          <a:xfrm>
            <a:off x="3246120" y="2487168"/>
            <a:ext cx="0" cy="21945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9" name="Agent container 87"/>
          <p:cNvSpPr/>
          <p:nvPr/>
        </p:nvSpPr>
        <p:spPr>
          <a:xfrm>
            <a:off x="457200" y="2706624"/>
            <a:ext cx="55778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Label 88"/>
          <p:cNvSpPr txBox="1"/>
          <p:nvPr/>
        </p:nvSpPr>
        <p:spPr>
          <a:xfrm>
            <a:off x="566928" y="2770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LANGGRAPH AGENT</a:t>
            </a:r>
            <a:endParaRPr lang="en-US" sz="900" dirty="0"/>
          </a:p>
        </p:txBody>
      </p:sp>
      <p:sp>
        <p:nvSpPr>
          <p:cNvPr id="11" name="Label 89"/>
          <p:cNvSpPr txBox="1"/>
          <p:nvPr/>
        </p:nvSpPr>
        <p:spPr>
          <a:xfrm>
            <a:off x="3200400" y="2770632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chemeClr val="accent3"/>
                </a:solidFill>
              </a:rPr>
              <a:t>human approval before any action</a:t>
            </a:r>
            <a:endParaRPr lang="en-US" sz="900" dirty="0"/>
          </a:p>
        </p:txBody>
      </p:sp>
      <p:sp>
        <p:nvSpPr>
          <p:cNvPr id="12" name="Agent step 90"/>
          <p:cNvSpPr/>
          <p:nvPr/>
        </p:nvSpPr>
        <p:spPr>
          <a:xfrm>
            <a:off x="566928" y="3044952"/>
            <a:ext cx="786384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Understand</a:t>
            </a:r>
            <a:endParaRPr lang="en-US" sz="1000" dirty="0"/>
          </a:p>
        </p:txBody>
      </p:sp>
      <p:sp>
        <p:nvSpPr>
          <p:cNvPr id="13" name="Connector 91"/>
          <p:cNvSpPr/>
          <p:nvPr/>
        </p:nvSpPr>
        <p:spPr>
          <a:xfrm>
            <a:off x="1353312" y="321868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Agent step 92"/>
          <p:cNvSpPr/>
          <p:nvPr/>
        </p:nvSpPr>
        <p:spPr>
          <a:xfrm>
            <a:off x="1481328" y="3044952"/>
            <a:ext cx="786384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Recall</a:t>
            </a:r>
            <a:endParaRPr lang="en-US" sz="1000" dirty="0"/>
          </a:p>
        </p:txBody>
      </p:sp>
      <p:sp>
        <p:nvSpPr>
          <p:cNvPr id="15" name="Connector 93"/>
          <p:cNvSpPr/>
          <p:nvPr/>
        </p:nvSpPr>
        <p:spPr>
          <a:xfrm>
            <a:off x="2267712" y="321868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Agent step 94"/>
          <p:cNvSpPr/>
          <p:nvPr/>
        </p:nvSpPr>
        <p:spPr>
          <a:xfrm>
            <a:off x="2395728" y="3044952"/>
            <a:ext cx="786384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Recommend</a:t>
            </a:r>
            <a:endParaRPr lang="en-US" sz="1000" dirty="0"/>
          </a:p>
        </p:txBody>
      </p:sp>
      <p:sp>
        <p:nvSpPr>
          <p:cNvPr id="17" name="Connector 95"/>
          <p:cNvSpPr/>
          <p:nvPr/>
        </p:nvSpPr>
        <p:spPr>
          <a:xfrm>
            <a:off x="3182112" y="321868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Agent step 96"/>
          <p:cNvSpPr/>
          <p:nvPr/>
        </p:nvSpPr>
        <p:spPr>
          <a:xfrm>
            <a:off x="3310128" y="3044952"/>
            <a:ext cx="786384" cy="3474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Approve</a:t>
            </a:r>
            <a:endParaRPr lang="en-US" sz="1000" dirty="0"/>
          </a:p>
        </p:txBody>
      </p:sp>
      <p:sp>
        <p:nvSpPr>
          <p:cNvPr id="19" name="Connector 97"/>
          <p:cNvSpPr/>
          <p:nvPr/>
        </p:nvSpPr>
        <p:spPr>
          <a:xfrm>
            <a:off x="4096512" y="321868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Agent step 98"/>
          <p:cNvSpPr/>
          <p:nvPr/>
        </p:nvSpPr>
        <p:spPr>
          <a:xfrm>
            <a:off x="4224528" y="3044952"/>
            <a:ext cx="786384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Act</a:t>
            </a:r>
            <a:endParaRPr lang="en-US" sz="1000" dirty="0"/>
          </a:p>
        </p:txBody>
      </p:sp>
      <p:sp>
        <p:nvSpPr>
          <p:cNvPr id="21" name="Connector 99"/>
          <p:cNvSpPr/>
          <p:nvPr/>
        </p:nvSpPr>
        <p:spPr>
          <a:xfrm>
            <a:off x="5010912" y="321868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Agent step 100"/>
          <p:cNvSpPr/>
          <p:nvPr/>
        </p:nvSpPr>
        <p:spPr>
          <a:xfrm>
            <a:off x="5138928" y="3044952"/>
            <a:ext cx="786384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Verify</a:t>
            </a:r>
            <a:endParaRPr lang="en-US" sz="1000" dirty="0"/>
          </a:p>
        </p:txBody>
      </p:sp>
      <p:sp>
        <p:nvSpPr>
          <p:cNvPr id="23" name="Service 101"/>
          <p:cNvSpPr/>
          <p:nvPr/>
        </p:nvSpPr>
        <p:spPr>
          <a:xfrm>
            <a:off x="457200" y="3703320"/>
            <a:ext cx="128016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Groq LLM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</a:rPr>
              <a:t>reasoning</a:t>
            </a:r>
            <a:endParaRPr lang="en-US" sz="1050" dirty="0"/>
          </a:p>
        </p:txBody>
      </p:sp>
      <p:sp>
        <p:nvSpPr>
          <p:cNvPr id="24" name="Connector 102"/>
          <p:cNvSpPr/>
          <p:nvPr/>
        </p:nvSpPr>
        <p:spPr>
          <a:xfrm>
            <a:off x="1097280" y="3483864"/>
            <a:ext cx="0" cy="21945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5" name="Service 103"/>
          <p:cNvSpPr/>
          <p:nvPr/>
        </p:nvSpPr>
        <p:spPr>
          <a:xfrm>
            <a:off x="1889760" y="3703320"/>
            <a:ext cx="128016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Hindsight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</a:rPr>
              <a:t>experience memory</a:t>
            </a:r>
            <a:endParaRPr lang="en-US" sz="1050" dirty="0"/>
          </a:p>
        </p:txBody>
      </p:sp>
      <p:sp>
        <p:nvSpPr>
          <p:cNvPr id="26" name="Connector 104"/>
          <p:cNvSpPr/>
          <p:nvPr/>
        </p:nvSpPr>
        <p:spPr>
          <a:xfrm>
            <a:off x="2529840" y="3483864"/>
            <a:ext cx="0" cy="21945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7" name="Service 105"/>
          <p:cNvSpPr/>
          <p:nvPr/>
        </p:nvSpPr>
        <p:spPr>
          <a:xfrm>
            <a:off x="3322320" y="3703320"/>
            <a:ext cx="128016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PostgreSQL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</a:rPr>
              <a:t>incidents · outcomes</a:t>
            </a:r>
            <a:endParaRPr lang="en-US" sz="1050" dirty="0"/>
          </a:p>
        </p:txBody>
      </p:sp>
      <p:sp>
        <p:nvSpPr>
          <p:cNvPr id="28" name="Connector 106"/>
          <p:cNvSpPr/>
          <p:nvPr/>
        </p:nvSpPr>
        <p:spPr>
          <a:xfrm>
            <a:off x="3962400" y="3483864"/>
            <a:ext cx="0" cy="21945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9" name="Service 107"/>
          <p:cNvSpPr/>
          <p:nvPr/>
        </p:nvSpPr>
        <p:spPr>
          <a:xfrm>
            <a:off x="4754880" y="3703320"/>
            <a:ext cx="128016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Simulated env.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</a:rPr>
              <a:t>safe remediation</a:t>
            </a:r>
            <a:endParaRPr lang="en-US" sz="1050" dirty="0"/>
          </a:p>
        </p:txBody>
      </p:sp>
      <p:sp>
        <p:nvSpPr>
          <p:cNvPr id="30" name="Connector 108"/>
          <p:cNvSpPr/>
          <p:nvPr/>
        </p:nvSpPr>
        <p:spPr>
          <a:xfrm>
            <a:off x="5394960" y="3483864"/>
            <a:ext cx="0" cy="21945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31" name="Connector 109"/>
          <p:cNvSpPr/>
          <p:nvPr/>
        </p:nvSpPr>
        <p:spPr>
          <a:xfrm>
            <a:off x="5394960" y="4160520"/>
            <a:ext cx="0" cy="201168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triangle"/>
          </a:ln>
        </p:spPr>
      </p:sp>
      <p:sp>
        <p:nvSpPr>
          <p:cNvPr id="32" name="Future scope 110"/>
          <p:cNvSpPr/>
          <p:nvPr/>
        </p:nvSpPr>
        <p:spPr>
          <a:xfrm>
            <a:off x="457200" y="4361688"/>
            <a:ext cx="5577840" cy="310896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FUTURE SCOPE  ·  observability  ·  ticketing  ·  controlled infrastructure tools</a:t>
            </a:r>
            <a:endParaRPr lang="en-US" sz="1000" dirty="0"/>
          </a:p>
        </p:txBody>
      </p:sp>
      <p:sp>
        <p:nvSpPr>
          <p:cNvPr id="33" name="Label 111"/>
          <p:cNvSpPr txBox="1"/>
          <p:nvPr/>
        </p:nvSpPr>
        <p:spPr>
          <a:xfrm>
            <a:off x="6309360" y="1298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PROTOTYPE SCREENS</a:t>
            </a:r>
            <a:endParaRPr lang="en-US" sz="900" dirty="0"/>
          </a:p>
        </p:txBody>
      </p:sp>
      <p:sp>
        <p:nvSpPr>
          <p:cNvPr id="34" name="Screenshot slot 112"/>
          <p:cNvSpPr/>
          <p:nvPr/>
        </p:nvSpPr>
        <p:spPr>
          <a:xfrm>
            <a:off x="6309360" y="1536192"/>
            <a:ext cx="2377440" cy="95097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/>
                </a:solidFill>
              </a:rPr>
              <a:t>Prototype screenshot</a:t>
            </a:r>
            <a:endParaRPr lang="en-US" sz="1000" dirty="0"/>
          </a:p>
        </p:txBody>
      </p:sp>
      <p:sp>
        <p:nvSpPr>
          <p:cNvPr id="35" name="Label 113"/>
          <p:cNvSpPr txBox="1"/>
          <p:nvPr/>
        </p:nvSpPr>
        <p:spPr>
          <a:xfrm>
            <a:off x="6419088" y="16093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1  REPORT</a:t>
            </a:r>
            <a:endParaRPr lang="en-US" sz="900" dirty="0"/>
          </a:p>
        </p:txBody>
      </p:sp>
      <p:sp>
        <p:nvSpPr>
          <p:cNvPr id="36" name="Screenshot slot 114"/>
          <p:cNvSpPr/>
          <p:nvPr/>
        </p:nvSpPr>
        <p:spPr>
          <a:xfrm>
            <a:off x="6309360" y="2624328"/>
            <a:ext cx="2377440" cy="95097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/>
                </a:solidFill>
              </a:rPr>
              <a:t>Prototype screenshot</a:t>
            </a:r>
            <a:endParaRPr lang="en-US" sz="1000" dirty="0"/>
          </a:p>
        </p:txBody>
      </p:sp>
      <p:sp>
        <p:nvSpPr>
          <p:cNvPr id="37" name="Label 115"/>
          <p:cNvSpPr txBox="1"/>
          <p:nvPr/>
        </p:nvSpPr>
        <p:spPr>
          <a:xfrm>
            <a:off x="6419088" y="2697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2  REMEMBER + REASON</a:t>
            </a:r>
            <a:endParaRPr lang="en-US" sz="900" dirty="0"/>
          </a:p>
        </p:txBody>
      </p:sp>
      <p:sp>
        <p:nvSpPr>
          <p:cNvPr id="38" name="Screenshot slot 116"/>
          <p:cNvSpPr/>
          <p:nvPr/>
        </p:nvSpPr>
        <p:spPr>
          <a:xfrm>
            <a:off x="6309360" y="3712464"/>
            <a:ext cx="2377440" cy="95097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/>
                </a:solidFill>
              </a:rPr>
              <a:t>Prototype screenshot</a:t>
            </a:r>
            <a:endParaRPr lang="en-US" sz="1000" dirty="0"/>
          </a:p>
        </p:txBody>
      </p:sp>
      <p:sp>
        <p:nvSpPr>
          <p:cNvPr id="39" name="Label 117"/>
          <p:cNvSpPr txBox="1"/>
          <p:nvPr/>
        </p:nvSpPr>
        <p:spPr>
          <a:xfrm>
            <a:off x="6419088" y="37856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3  ACT + VERIFY</a:t>
            </a:r>
            <a:endParaRPr lang="en-US" sz="9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274320"/>
            <a:ext cx="128016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8E8B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47435DF-2C7B-4B92-9C04-1DAB32918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549" y="1520190"/>
            <a:ext cx="2377440" cy="96697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5441FC8-A303-B47C-61C9-BD02D60ED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549" y="2607051"/>
            <a:ext cx="2402013" cy="96152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6347C4C-EBF2-223A-A2CB-285DA80DC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549" y="3671871"/>
            <a:ext cx="2402013" cy="10007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chemeClr val="accent1"/>
                </a:solidFill>
              </a:rPr>
              <a:t>IMPACT · DIFFERENTIATION · SCALABILITY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Every incident makes the next one smarter.</a:t>
            </a:r>
            <a:endParaRPr lang="en-US" sz="2200" dirty="0"/>
          </a:p>
        </p:txBody>
      </p:sp>
      <p:sp>
        <p:nvSpPr>
          <p:cNvPr id="4" name="Label 118"/>
          <p:cNvSpPr txBox="1"/>
          <p:nvPr/>
        </p:nvSpPr>
        <p:spPr>
          <a:xfrm>
            <a:off x="45720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WORKFLOW  ·  THE LEARNING LOOP</a:t>
            </a:r>
            <a:endParaRPr lang="en-US" sz="900" dirty="0"/>
          </a:p>
        </p:txBody>
      </p:sp>
      <p:sp>
        <p:nvSpPr>
          <p:cNvPr id="5" name="Loop step 119"/>
          <p:cNvSpPr/>
          <p:nvPr/>
        </p:nvSpPr>
        <p:spPr>
          <a:xfrm>
            <a:off x="1805940" y="1508760"/>
            <a:ext cx="105156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Incident</a:t>
            </a:r>
            <a:endParaRPr lang="en-US" sz="1000" dirty="0"/>
          </a:p>
        </p:txBody>
      </p:sp>
      <p:sp>
        <p:nvSpPr>
          <p:cNvPr id="6" name="Loop step 120"/>
          <p:cNvSpPr/>
          <p:nvPr/>
        </p:nvSpPr>
        <p:spPr>
          <a:xfrm>
            <a:off x="3033375" y="1965960"/>
            <a:ext cx="105156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Investigate</a:t>
            </a:r>
            <a:endParaRPr lang="en-US" sz="1000" dirty="0"/>
          </a:p>
        </p:txBody>
      </p:sp>
      <p:sp>
        <p:nvSpPr>
          <p:cNvPr id="7" name="Loop step 121"/>
          <p:cNvSpPr/>
          <p:nvPr/>
        </p:nvSpPr>
        <p:spPr>
          <a:xfrm>
            <a:off x="3033375" y="2880360"/>
            <a:ext cx="1051560" cy="3657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Learn</a:t>
            </a:r>
            <a:endParaRPr lang="en-US" sz="1000" dirty="0"/>
          </a:p>
        </p:txBody>
      </p:sp>
      <p:sp>
        <p:nvSpPr>
          <p:cNvPr id="8" name="Loop step 122"/>
          <p:cNvSpPr/>
          <p:nvPr/>
        </p:nvSpPr>
        <p:spPr>
          <a:xfrm>
            <a:off x="1805940" y="3337560"/>
            <a:ext cx="105156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Act</a:t>
            </a:r>
            <a:endParaRPr lang="en-US" sz="1000" dirty="0"/>
          </a:p>
        </p:txBody>
      </p:sp>
      <p:sp>
        <p:nvSpPr>
          <p:cNvPr id="9" name="Loop step 123"/>
          <p:cNvSpPr/>
          <p:nvPr/>
        </p:nvSpPr>
        <p:spPr>
          <a:xfrm>
            <a:off x="578505" y="2880360"/>
            <a:ext cx="105156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Verify</a:t>
            </a:r>
            <a:endParaRPr lang="en-US" sz="1000" dirty="0"/>
          </a:p>
        </p:txBody>
      </p:sp>
      <p:sp>
        <p:nvSpPr>
          <p:cNvPr id="10" name="Loop step 124"/>
          <p:cNvSpPr/>
          <p:nvPr/>
        </p:nvSpPr>
        <p:spPr>
          <a:xfrm>
            <a:off x="578505" y="1965960"/>
            <a:ext cx="1051560" cy="3657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Remember</a:t>
            </a:r>
            <a:endParaRPr lang="en-US" sz="1000" dirty="0"/>
          </a:p>
        </p:txBody>
      </p:sp>
      <p:sp>
        <p:nvSpPr>
          <p:cNvPr id="11" name="Connector 125"/>
          <p:cNvSpPr/>
          <p:nvPr/>
        </p:nvSpPr>
        <p:spPr>
          <a:xfrm>
            <a:off x="2857500" y="1691640"/>
            <a:ext cx="564495" cy="274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Connector 126"/>
          <p:cNvSpPr/>
          <p:nvPr/>
        </p:nvSpPr>
        <p:spPr>
          <a:xfrm>
            <a:off x="3559155" y="2331720"/>
            <a:ext cx="0" cy="5486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Connector 127"/>
          <p:cNvSpPr/>
          <p:nvPr/>
        </p:nvSpPr>
        <p:spPr>
          <a:xfrm flipH="1">
            <a:off x="2857500" y="3246120"/>
            <a:ext cx="564495" cy="274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Connector 128"/>
          <p:cNvSpPr/>
          <p:nvPr/>
        </p:nvSpPr>
        <p:spPr>
          <a:xfrm flipH="1" flipV="1">
            <a:off x="1241445" y="3246120"/>
            <a:ext cx="564495" cy="274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Connector 129"/>
          <p:cNvSpPr/>
          <p:nvPr/>
        </p:nvSpPr>
        <p:spPr>
          <a:xfrm flipV="1">
            <a:off x="1104285" y="2331720"/>
            <a:ext cx="0" cy="5486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Connector 130"/>
          <p:cNvSpPr/>
          <p:nvPr/>
        </p:nvSpPr>
        <p:spPr>
          <a:xfrm flipV="1">
            <a:off x="1241445" y="1691640"/>
            <a:ext cx="564495" cy="274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Loop centre 131"/>
          <p:cNvSpPr txBox="1"/>
          <p:nvPr/>
        </p:nvSpPr>
        <p:spPr>
          <a:xfrm>
            <a:off x="1691640" y="23500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↻  next incident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starts smarter</a:t>
            </a:r>
            <a:endParaRPr lang="en-US" sz="1100" dirty="0"/>
          </a:p>
        </p:txBody>
      </p:sp>
      <p:sp>
        <p:nvSpPr>
          <p:cNvPr id="18" name="Impact card 132"/>
          <p:cNvSpPr/>
          <p:nvPr/>
        </p:nvSpPr>
        <p:spPr>
          <a:xfrm>
            <a:off x="4389120" y="1280160"/>
            <a:ext cx="429768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Label 133"/>
          <p:cNvSpPr txBox="1"/>
          <p:nvPr/>
        </p:nvSpPr>
        <p:spPr>
          <a:xfrm>
            <a:off x="4553712" y="1371600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chemeClr val="accent1"/>
                </a:solidFill>
              </a:rPr>
              <a:t>IMPACT</a:t>
            </a:r>
            <a:endParaRPr lang="en-US" sz="1000" dirty="0"/>
          </a:p>
        </p:txBody>
      </p:sp>
      <p:sp>
        <p:nvSpPr>
          <p:cNvPr id="20" name="Label 134"/>
          <p:cNvSpPr txBox="1"/>
          <p:nvPr/>
        </p:nvSpPr>
        <p:spPr>
          <a:xfrm>
            <a:off x="4553712" y="1591056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Turns previous incident experience into actionable guidance.</a:t>
            </a:r>
            <a:endParaRPr lang="en-US" sz="1100" dirty="0"/>
          </a:p>
        </p:txBody>
      </p:sp>
      <p:sp>
        <p:nvSpPr>
          <p:cNvPr id="21" name="Impact card 135"/>
          <p:cNvSpPr/>
          <p:nvPr/>
        </p:nvSpPr>
        <p:spPr>
          <a:xfrm>
            <a:off x="4389120" y="2194560"/>
            <a:ext cx="429768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2" name="Label 136"/>
          <p:cNvSpPr txBox="1"/>
          <p:nvPr/>
        </p:nvSpPr>
        <p:spPr>
          <a:xfrm>
            <a:off x="4553712" y="2286000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chemeClr val="accent1"/>
                </a:solidFill>
              </a:rPr>
              <a:t>DIFFERENTIATION</a:t>
            </a:r>
            <a:endParaRPr lang="en-US" sz="1000" dirty="0"/>
          </a:p>
        </p:txBody>
      </p:sp>
      <p:sp>
        <p:nvSpPr>
          <p:cNvPr id="23" name="Label 137"/>
          <p:cNvSpPr txBox="1"/>
          <p:nvPr/>
        </p:nvSpPr>
        <p:spPr>
          <a:xfrm>
            <a:off x="4553712" y="2505456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Remembers failed and successful actions, and uses their outcomes to influence the next recommendation.</a:t>
            </a:r>
            <a:endParaRPr lang="en-US" sz="1100" dirty="0"/>
          </a:p>
        </p:txBody>
      </p:sp>
      <p:sp>
        <p:nvSpPr>
          <p:cNvPr id="24" name="Impact card 138"/>
          <p:cNvSpPr/>
          <p:nvPr/>
        </p:nvSpPr>
        <p:spPr>
          <a:xfrm>
            <a:off x="4389120" y="3108960"/>
            <a:ext cx="429768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5" name="Label 139"/>
          <p:cNvSpPr txBox="1"/>
          <p:nvPr/>
        </p:nvSpPr>
        <p:spPr>
          <a:xfrm>
            <a:off x="4553712" y="3200400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chemeClr val="accent1"/>
                </a:solidFill>
              </a:rPr>
              <a:t>SCALABILITY</a:t>
            </a:r>
            <a:endParaRPr lang="en-US" sz="1000" dirty="0"/>
          </a:p>
        </p:txBody>
      </p:sp>
      <p:sp>
        <p:nvSpPr>
          <p:cNvPr id="26" name="Label 140"/>
          <p:cNvSpPr txBox="1"/>
          <p:nvPr/>
        </p:nvSpPr>
        <p:spPr>
          <a:xfrm>
            <a:off x="4553712" y="3419856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Prototype today: simulated incidents and remediation. Later: connect observability, ticketing and controlled infrastructure tools.</a:t>
            </a:r>
            <a:endParaRPr lang="en-US" sz="1100" dirty="0"/>
          </a:p>
        </p:txBody>
      </p:sp>
      <p:sp>
        <p:nvSpPr>
          <p:cNvPr id="27" name="Label 141"/>
          <p:cNvSpPr txBox="1"/>
          <p:nvPr/>
        </p:nvSpPr>
        <p:spPr>
          <a:xfrm>
            <a:off x="457200" y="40233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WHAT MEMORYDESK STORES FROM EACH INCIDENT</a:t>
            </a:r>
            <a:endParaRPr lang="en-US" sz="900" dirty="0"/>
          </a:p>
        </p:txBody>
      </p:sp>
      <p:sp>
        <p:nvSpPr>
          <p:cNvPr id="28" name="Label 142"/>
          <p:cNvSpPr txBox="1"/>
          <p:nvPr/>
        </p:nvSpPr>
        <p:spPr>
          <a:xfrm>
            <a:off x="4389120" y="402336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chemeClr val="accent3"/>
                </a:solidFill>
              </a:rPr>
              <a:t>Next incident: the stored outcomes shape the recommendation.</a:t>
            </a:r>
            <a:endParaRPr lang="en-US" sz="900" dirty="0"/>
          </a:p>
        </p:txBody>
      </p:sp>
      <p:sp>
        <p:nvSpPr>
          <p:cNvPr id="29" name="Memory field 143"/>
          <p:cNvSpPr/>
          <p:nvPr/>
        </p:nvSpPr>
        <p:spPr>
          <a:xfrm>
            <a:off x="457200" y="4261104"/>
            <a:ext cx="137160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Incident</a:t>
            </a:r>
            <a:endParaRPr lang="en-US" sz="1000" dirty="0"/>
          </a:p>
        </p:txBody>
      </p:sp>
      <p:sp>
        <p:nvSpPr>
          <p:cNvPr id="30" name="Connector 144"/>
          <p:cNvSpPr/>
          <p:nvPr/>
        </p:nvSpPr>
        <p:spPr>
          <a:xfrm>
            <a:off x="1828800" y="4443984"/>
            <a:ext cx="3429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Memory field 145"/>
          <p:cNvSpPr/>
          <p:nvPr/>
        </p:nvSpPr>
        <p:spPr>
          <a:xfrm>
            <a:off x="2171700" y="4261104"/>
            <a:ext cx="137160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Failed action  ✕</a:t>
            </a:r>
            <a:endParaRPr lang="en-US" sz="1000" dirty="0"/>
          </a:p>
        </p:txBody>
      </p:sp>
      <p:sp>
        <p:nvSpPr>
          <p:cNvPr id="32" name="Connector 146"/>
          <p:cNvSpPr/>
          <p:nvPr/>
        </p:nvSpPr>
        <p:spPr>
          <a:xfrm>
            <a:off x="3543300" y="4443984"/>
            <a:ext cx="3429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Memory field 147"/>
          <p:cNvSpPr/>
          <p:nvPr/>
        </p:nvSpPr>
        <p:spPr>
          <a:xfrm>
            <a:off x="3886200" y="4261104"/>
            <a:ext cx="137160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Successful action  ✓</a:t>
            </a:r>
            <a:endParaRPr lang="en-US" sz="1000" dirty="0"/>
          </a:p>
        </p:txBody>
      </p:sp>
      <p:sp>
        <p:nvSpPr>
          <p:cNvPr id="34" name="Connector 148"/>
          <p:cNvSpPr/>
          <p:nvPr/>
        </p:nvSpPr>
        <p:spPr>
          <a:xfrm>
            <a:off x="5257800" y="4443984"/>
            <a:ext cx="3429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Memory field 149"/>
          <p:cNvSpPr/>
          <p:nvPr/>
        </p:nvSpPr>
        <p:spPr>
          <a:xfrm>
            <a:off x="5600700" y="4261104"/>
            <a:ext cx="137160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Verified outcome</a:t>
            </a:r>
            <a:endParaRPr lang="en-US" sz="1000" dirty="0"/>
          </a:p>
        </p:txBody>
      </p:sp>
      <p:sp>
        <p:nvSpPr>
          <p:cNvPr id="36" name="Connector 150"/>
          <p:cNvSpPr/>
          <p:nvPr/>
        </p:nvSpPr>
        <p:spPr>
          <a:xfrm>
            <a:off x="6972300" y="4443984"/>
            <a:ext cx="3429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7" name="Memory field 151"/>
          <p:cNvSpPr/>
          <p:nvPr/>
        </p:nvSpPr>
        <p:spPr>
          <a:xfrm>
            <a:off x="7315200" y="4261104"/>
            <a:ext cx="1371600" cy="3657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New memory</a:t>
            </a:r>
            <a:endParaRPr lang="en-US" sz="1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274320"/>
            <a:ext cx="128016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t"/>
          <a:lstStyle>
            <a:lvl1pPr>
              <a:defRPr sz="900">
                <a:solidFill>
                  <a:srgbClr val="8E8B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moryDesk">
  <a:themeElements>
    <a:clrScheme name="MemoryDesk">
      <a:dk1>
        <a:srgbClr val="F4F2FF"/>
      </a:dk1>
      <a:lt1>
        <a:srgbClr val="0B1030"/>
      </a:lt1>
      <a:dk2>
        <a:srgbClr val="C4B5FD"/>
      </a:dk2>
      <a:lt2>
        <a:srgbClr val="1B1850"/>
      </a:lt2>
      <a:accent1>
        <a:srgbClr val="7C5CFF"/>
      </a:accent1>
      <a:accent2>
        <a:srgbClr val="3A3680"/>
      </a:accent2>
      <a:accent3>
        <a:srgbClr val="8E8BB5"/>
      </a:accent3>
      <a:accent4>
        <a:srgbClr val="FFFFFF"/>
      </a:accent4>
      <a:accent5>
        <a:srgbClr val="A78BFA"/>
      </a:accent5>
      <a:accent6>
        <a:srgbClr val="4C3FB0"/>
      </a:accent6>
      <a:hlink>
        <a:srgbClr val="C4B5FD"/>
      </a:hlink>
      <a:folHlink>
        <a:srgbClr val="8E8BB5"/>
      </a:folHlink>
    </a:clrScheme>
    <a:fontScheme name="MemoryDesk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512</Words>
  <Application>Microsoft Office PowerPoint</Application>
  <PresentationFormat>On-screen Show (16:9)</PresentationFormat>
  <Paragraphs>114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MemoryDesk</vt:lpstr>
      <vt:lpstr>MemoryDesk An AI incident-response assistant that learns from past failures and successful fixes to help teams resolve new incidents faster. </vt:lpstr>
      <vt:lpstr>The missing piece isn't more incident data. It's usable organizational experience.</vt:lpstr>
      <vt:lpstr>MemoryDesk — An AI teammate that remembers what worked.</vt:lpstr>
      <vt:lpstr>Built and running: report, remember, act, verify.</vt:lpstr>
      <vt:lpstr>Every incident makes the next one smarter.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MemoryDesk</dc:title>
  <dc:subject>PptxGenJS Presentation</dc:subject>
  <dc:creator>PptxGenJS</dc:creator>
  <cp:lastModifiedBy>chidekpattanaik@outlook.com</cp:lastModifiedBy>
  <cp:revision>2</cp:revision>
  <dcterms:created xsi:type="dcterms:W3CDTF">2026-10-03T14:40:23Z</dcterms:created>
  <dcterms:modified xsi:type="dcterms:W3CDTF">2026-10-03T17:25:33Z</dcterms:modified>
</cp:coreProperties>
</file>